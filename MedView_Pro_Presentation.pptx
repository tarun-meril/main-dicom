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-914400"/>
            <a:ext cx="5943600" cy="8229600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-914400"/>
            <a:ext cx="137160" cy="8229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MedView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40080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MedView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65836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00D4FF"/>
                </a:solidFill>
                <a:latin typeface="Calibri"/>
              </a:rPr>
              <a:t>Production-Level PACS &amp; DICOM 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6583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B8D4F0"/>
                </a:solidFill>
                <a:latin typeface="Calibri"/>
              </a:rPr>
              <a:t>Enterprise Medical Imaging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364992"/>
            <a:ext cx="5943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PROJECT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22191"/>
            <a:ext cx="6217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8D4F0"/>
                </a:solidFill>
                <a:latin typeface="Calibri"/>
              </a:rPr>
              <a:t>Develop a production-ready PACS Study Browser and DICOM Viewer capable of handling real medical imaging studies with a modern desktop experience.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54880"/>
            <a:ext cx="1664208" cy="530352"/>
          </a:xfrm>
          <a:prstGeom prst="rect">
            <a:avLst/>
          </a:prstGeom>
          <a:solidFill>
            <a:srgbClr val="102A5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846320"/>
            <a:ext cx="148132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🖥  PACS Study Browser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03704" y="4754880"/>
            <a:ext cx="1664208" cy="530352"/>
          </a:xfrm>
          <a:prstGeom prst="rect">
            <a:avLst/>
          </a:prstGeom>
          <a:solidFill>
            <a:srgbClr val="102A5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5144" y="4846320"/>
            <a:ext cx="148132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🔬  High-Performance DICOM Viewer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4488" y="4754880"/>
            <a:ext cx="1664208" cy="530352"/>
          </a:xfrm>
          <a:prstGeom prst="rect">
            <a:avLst/>
          </a:prstGeom>
          <a:solidFill>
            <a:srgbClr val="102A5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95928" y="4846320"/>
            <a:ext cx="148132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⚡  Cornerstone3D Rendering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05272" y="4754880"/>
            <a:ext cx="1664208" cy="530352"/>
          </a:xfrm>
          <a:prstGeom prst="rect">
            <a:avLst/>
          </a:prstGeom>
          <a:solidFill>
            <a:srgbClr val="102A5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96712" y="4846320"/>
            <a:ext cx="148132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💻  Electron Desktop 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367528"/>
            <a:ext cx="1664208" cy="530352"/>
          </a:xfrm>
          <a:prstGeom prst="rect">
            <a:avLst/>
          </a:prstGeom>
          <a:solidFill>
            <a:srgbClr val="102A5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458968"/>
            <a:ext cx="148132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🏥  Local DICOM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03704" y="5367528"/>
            <a:ext cx="1664208" cy="530352"/>
          </a:xfrm>
          <a:prstGeom prst="rect">
            <a:avLst/>
          </a:prstGeom>
          <a:solidFill>
            <a:srgbClr val="102A5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95144" y="5458968"/>
            <a:ext cx="148132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🎨  Modern Healthcare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04488" y="5367528"/>
            <a:ext cx="1664208" cy="530352"/>
          </a:xfrm>
          <a:prstGeom prst="rect">
            <a:avLst/>
          </a:prstGeom>
          <a:solidFill>
            <a:srgbClr val="102A5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5928" y="5458968"/>
            <a:ext cx="148132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🏗  Production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645920"/>
            <a:ext cx="1965960" cy="1188720"/>
          </a:xfrm>
          <a:prstGeom prst="rect">
            <a:avLst/>
          </a:prstGeom>
          <a:solidFill>
            <a:srgbClr val="0D234F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4928" y="1755648"/>
            <a:ext cx="1783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0D4FF"/>
                </a:solidFill>
                <a:latin typeface="Calibri"/>
              </a:rPr>
              <a:t>Real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2194560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DICOM Studies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40" y="1645920"/>
            <a:ext cx="1965960" cy="1188720"/>
          </a:xfrm>
          <a:prstGeom prst="rect">
            <a:avLst/>
          </a:prstGeom>
          <a:solidFill>
            <a:srgbClr val="0D234F"/>
          </a:solidFill>
          <a:ln w="1524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73768" y="1755648"/>
            <a:ext cx="1783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0E596"/>
                </a:solidFill>
                <a:latin typeface="Calibri"/>
              </a:rPr>
              <a:t>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2194560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PACS Browser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035808"/>
            <a:ext cx="1965960" cy="1188720"/>
          </a:xfrm>
          <a:prstGeom prst="rect">
            <a:avLst/>
          </a:prstGeom>
          <a:solidFill>
            <a:srgbClr val="0D234F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4928" y="3145536"/>
            <a:ext cx="1783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C107"/>
                </a:solidFill>
                <a:latin typeface="Calibri"/>
              </a:rPr>
              <a:t>Desktop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928" y="3584448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Electron Shell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64040" y="3035808"/>
            <a:ext cx="1965960" cy="1188720"/>
          </a:xfrm>
          <a:prstGeom prst="rect">
            <a:avLst/>
          </a:prstGeom>
          <a:solidFill>
            <a:srgbClr val="0D234F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3768" y="3145536"/>
            <a:ext cx="1783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0D4FF"/>
                </a:solidFill>
                <a:latin typeface="Calibri"/>
              </a:rPr>
              <a:t>Running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8" y="3584448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FastAPI Backend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425696"/>
            <a:ext cx="1965960" cy="1188720"/>
          </a:xfrm>
          <a:prstGeom prst="rect">
            <a:avLst/>
          </a:prstGeom>
          <a:solidFill>
            <a:srgbClr val="0D234F"/>
          </a:solidFill>
          <a:ln w="1524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4928" y="4535424"/>
            <a:ext cx="1783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0E596"/>
                </a:solidFill>
                <a:latin typeface="Calibri"/>
              </a:rPr>
              <a:t>Connected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4928" y="4974336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PostgreSQL DB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64040" y="4425696"/>
            <a:ext cx="1965960" cy="1188720"/>
          </a:xfrm>
          <a:prstGeom prst="rect">
            <a:avLst/>
          </a:prstGeom>
          <a:solidFill>
            <a:srgbClr val="0D234F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73768" y="4535424"/>
            <a:ext cx="1783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0D4FF"/>
                </a:solidFill>
                <a:latin typeface="Calibri"/>
              </a:rPr>
              <a:t>Active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8" y="4974336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WebSocket Hub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v1.0  |  Phase 1–6 Complete  |  Production Ready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657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MedView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BA8D4"/>
                </a:solidFill>
                <a:latin typeface="Calibri"/>
              </a:rPr>
              <a:t>SLIDE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Overall 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2377440" cy="502920"/>
          </a:xfrm>
          <a:prstGeom prst="rect">
            <a:avLst/>
          </a:prstGeom>
          <a:solidFill>
            <a:srgbClr val="00D4FF"/>
          </a:solidFill>
          <a:ln w="15240">
            <a:solidFill>
              <a:srgbClr val="060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00200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60F27"/>
                </a:solidFill>
                <a:latin typeface="Calibri"/>
              </a:rPr>
              <a:t>DICOM Files (.dcm)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011680"/>
            <a:ext cx="381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84832"/>
            <a:ext cx="2377440" cy="502920"/>
          </a:xfrm>
          <a:prstGeom prst="rect">
            <a:avLst/>
          </a:prstGeom>
          <a:solidFill>
            <a:srgbClr val="102A5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176272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Node.js Express 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2587752"/>
            <a:ext cx="381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60904"/>
            <a:ext cx="2377440" cy="502920"/>
          </a:xfrm>
          <a:prstGeom prst="rect">
            <a:avLst/>
          </a:prstGeom>
          <a:solidFill>
            <a:srgbClr val="102A5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752344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Study Parsing &amp; Indexing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163824"/>
            <a:ext cx="381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36976"/>
            <a:ext cx="2377440" cy="502920"/>
          </a:xfrm>
          <a:prstGeom prst="rect">
            <a:avLst/>
          </a:prstGeom>
          <a:solidFill>
            <a:srgbClr val="102A5E"/>
          </a:solidFill>
          <a:ln w="1524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328416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Local JSON / PostgreSQL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3739896"/>
            <a:ext cx="381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13048"/>
            <a:ext cx="2377440" cy="502920"/>
          </a:xfrm>
          <a:prstGeom prst="rect">
            <a:avLst/>
          </a:prstGeom>
          <a:solidFill>
            <a:srgbClr val="102A5E"/>
          </a:solidFill>
          <a:ln w="1524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90448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PACS Study Browser (React)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4315968"/>
            <a:ext cx="381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389120"/>
            <a:ext cx="2377440" cy="502920"/>
          </a:xfrm>
          <a:prstGeom prst="rect">
            <a:avLst/>
          </a:prstGeom>
          <a:solidFill>
            <a:srgbClr val="102A5E"/>
          </a:solidFill>
          <a:ln w="1524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480560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FastAPI Viewer Backend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4892040"/>
            <a:ext cx="381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965192"/>
            <a:ext cx="2377440" cy="502920"/>
          </a:xfrm>
          <a:prstGeom prst="rect">
            <a:avLst/>
          </a:prstGeom>
          <a:solidFill>
            <a:srgbClr val="102A5E"/>
          </a:solidFill>
          <a:ln w="1524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5056632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Pixel Streaming (pydicom)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5468112"/>
            <a:ext cx="381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541264"/>
            <a:ext cx="2377440" cy="502920"/>
          </a:xfrm>
          <a:prstGeom prst="rect">
            <a:avLst/>
          </a:prstGeom>
          <a:solidFill>
            <a:srgbClr val="0D234F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5632704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Electron Desktop Shell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00200" y="6044184"/>
            <a:ext cx="381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6117336"/>
            <a:ext cx="2377440" cy="502920"/>
          </a:xfrm>
          <a:prstGeom prst="rect">
            <a:avLst/>
          </a:prstGeom>
          <a:solidFill>
            <a:srgbClr val="102A5E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6208776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React Viewer (Viewport.tsx)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0200" y="6620256"/>
            <a:ext cx="381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6693408"/>
            <a:ext cx="2377440" cy="502920"/>
          </a:xfrm>
          <a:prstGeom prst="rect">
            <a:avLst/>
          </a:prstGeom>
          <a:solidFill>
            <a:srgbClr val="0D234F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678484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CSS Filter Rendering Engine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1508760"/>
            <a:ext cx="2240280" cy="1325880"/>
          </a:xfrm>
          <a:prstGeom prst="rect">
            <a:avLst/>
          </a:prstGeom>
          <a:solidFill>
            <a:srgbClr val="0D234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46120" y="1508760"/>
            <a:ext cx="224028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7560" y="1545336"/>
            <a:ext cx="2103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060F27"/>
                </a:solidFill>
                <a:latin typeface="Calibri"/>
              </a:rPr>
              <a:t>FRONTEND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5848" y="1856232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React 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5848" y="2075688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TypeScript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55848" y="2295144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Vite 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2514600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Tailwind CSS 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96128" y="1508760"/>
            <a:ext cx="2240280" cy="1325880"/>
          </a:xfrm>
          <a:prstGeom prst="rect">
            <a:avLst/>
          </a:prstGeom>
          <a:solidFill>
            <a:srgbClr val="0D234F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596128" y="1508760"/>
            <a:ext cx="2240280" cy="2926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87568" y="1545336"/>
            <a:ext cx="2103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060F27"/>
                </a:solidFill>
                <a:latin typeface="Calibri"/>
              </a:rPr>
              <a:t>BACKEND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05856" y="1856232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FastAPI 0.110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05856" y="2075688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Uvicorn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05856" y="2295144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Python 3.10+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05856" y="2514600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pydicom 2.4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46136" y="1508760"/>
            <a:ext cx="2240280" cy="1325880"/>
          </a:xfrm>
          <a:prstGeom prst="rect">
            <a:avLst/>
          </a:prstGeom>
          <a:solidFill>
            <a:srgbClr val="0D234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46136" y="1508760"/>
            <a:ext cx="2240280" cy="2926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37576" y="1545336"/>
            <a:ext cx="2103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060F27"/>
                </a:solidFill>
                <a:latin typeface="Calibri"/>
              </a:rPr>
              <a:t>PACS SERVER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55864" y="1856232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Express.js 4.19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2075688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Node.js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55864" y="2295144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TypeScript 5.3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55864" y="2514600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dicom-parser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96144" y="1508760"/>
            <a:ext cx="2240280" cy="1325880"/>
          </a:xfrm>
          <a:prstGeom prst="rect">
            <a:avLst/>
          </a:prstGeom>
          <a:solidFill>
            <a:srgbClr val="0D234F"/>
          </a:solidFill>
          <a:ln w="12700">
            <a:solidFill>
              <a:srgbClr val="7B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96144" y="1508760"/>
            <a:ext cx="2240280" cy="292608"/>
          </a:xfrm>
          <a:prstGeom prst="rect">
            <a:avLst/>
          </a:prstGeom>
          <a:solidFill>
            <a:srgbClr val="7B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87584" y="1545336"/>
            <a:ext cx="2103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05872" y="1856232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PostgreSQL 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05872" y="2075688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SQLAlchemy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05872" y="2295144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SQLite (dev)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05872" y="2514600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Alembic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46120" y="2944368"/>
            <a:ext cx="2240280" cy="1325880"/>
          </a:xfrm>
          <a:prstGeom prst="rect">
            <a:avLst/>
          </a:prstGeom>
          <a:solidFill>
            <a:srgbClr val="0D234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46120" y="2944368"/>
            <a:ext cx="2240280" cy="2926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37560" y="2980944"/>
            <a:ext cx="2103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060F27"/>
                </a:solidFill>
                <a:latin typeface="Calibri"/>
              </a:rPr>
              <a:t>DESKTOP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55848" y="3291840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Electron 34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55848" y="3511296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IPC Bridge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55848" y="3730752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Preload Script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55848" y="3950208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NSIS Installer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96128" y="2944368"/>
            <a:ext cx="2240280" cy="1325880"/>
          </a:xfrm>
          <a:prstGeom prst="rect">
            <a:avLst/>
          </a:prstGeom>
          <a:solidFill>
            <a:srgbClr val="0D234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596128" y="2944368"/>
            <a:ext cx="224028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87568" y="2980944"/>
            <a:ext cx="2103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060F27"/>
                </a:solidFill>
                <a:latin typeface="Calibri"/>
              </a:rPr>
              <a:t>INFRA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05856" y="3291840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Redis 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05856" y="3511296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Celery 5.3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05856" y="3730752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Docker Compose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05856" y="3950208"/>
            <a:ext cx="2057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• WebSockets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46120" y="4251960"/>
            <a:ext cx="4590288" cy="502920"/>
          </a:xfrm>
          <a:prstGeom prst="rect">
            <a:avLst/>
          </a:prstGeom>
          <a:solidFill>
            <a:srgbClr val="060F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83280" y="4343400"/>
            <a:ext cx="4480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📋  Medical Standard:  DICOM  |  WADO-RS  |  QIDO-RS  |  STOW-RS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27848" y="4251960"/>
            <a:ext cx="4590288" cy="502920"/>
          </a:xfrm>
          <a:prstGeom prst="rect">
            <a:avLst/>
          </a:prstGeom>
          <a:solidFill>
            <a:srgbClr val="060F27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65008" y="4343400"/>
            <a:ext cx="4480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E596"/>
                </a:solidFill>
                <a:latin typeface="Calibri"/>
              </a:rPr>
              <a:t>🔄  Real-Time:  WebSocket Hub  |  Celery Workers  |  Redis Cache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6400800"/>
            <a:ext cx="11430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BA8D4"/>
                </a:solidFill>
                <a:latin typeface="Calibri"/>
              </a:rPr>
              <a:t>🐳  Containerized with Docker Compose  |  PostgreSQL 16  |  Redis 7-alpine  |  Production Deployment Ready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657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MedView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BA8D4"/>
                </a:solidFill>
                <a:latin typeface="Calibri"/>
              </a:rPr>
              <a:t>SLIDE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Production PACS Study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✅  COMPLETED FEATURES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984248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39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Study List with Patient Demographics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30552"/>
            <a:ext cx="3931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Full DICOM metadata display with Name, ID, DOB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423160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59152"/>
            <a:ext cx="39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Multi-Field Search &amp; Filter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569464"/>
            <a:ext cx="3931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Patient Name, ID, Accession, Modality, Date, Desc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862072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98064"/>
            <a:ext cx="39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Series Detection &amp;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008376"/>
            <a:ext cx="3931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Automatic series hierarchy detection from DICOM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300984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236976"/>
            <a:ext cx="39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Drag &amp; Drop DICOM 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447288"/>
            <a:ext cx="3931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Multi-file, folder, and ZIP archive import support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3739896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675888"/>
            <a:ext cx="39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Study Card Grid Layout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886200"/>
            <a:ext cx="3931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Responsive card layout with study thumbnails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178808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114800"/>
            <a:ext cx="39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Supabase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325112"/>
            <a:ext cx="3931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Cloud-backed study management and sync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4617720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553712"/>
            <a:ext cx="39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PACS Workflow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764024"/>
            <a:ext cx="3931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Dispatches study selection to FastAPI backend hub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5056632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992624"/>
            <a:ext cx="39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Electron Launch from Browser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202936"/>
            <a:ext cx="3931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Opens desktop viewer from web browser selection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" y="5495544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431536"/>
            <a:ext cx="39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Import Zone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641848"/>
            <a:ext cx="3931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Dedicated DICOM import panel with progress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5934456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870448"/>
            <a:ext cx="39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Settings Page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6080760"/>
            <a:ext cx="3931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PACS AE Title, server port, storage path config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1508760"/>
            <a:ext cx="6400800" cy="5074920"/>
          </a:xfrm>
          <a:prstGeom prst="rect">
            <a:avLst/>
          </a:prstGeom>
          <a:solidFill>
            <a:srgbClr val="060F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94960" y="1508760"/>
            <a:ext cx="6400800" cy="36576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0" y="1572768"/>
            <a:ext cx="6217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●  ●  ●    MedView PRO – PACS Study Browser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1874520"/>
            <a:ext cx="6400800" cy="411480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1920240"/>
            <a:ext cx="6217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🔍 Search Studies   📥 Import DICOM   🔄 Refresh   ⚙ Settings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2286000"/>
            <a:ext cx="6400800" cy="384048"/>
          </a:xfrm>
          <a:prstGeom prst="rect">
            <a:avLst/>
          </a:prstGeom>
          <a:solidFill>
            <a:srgbClr val="0A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0" y="2313432"/>
            <a:ext cx="990600" cy="292608"/>
          </a:xfrm>
          <a:prstGeom prst="rect">
            <a:avLst/>
          </a:prstGeom>
          <a:solidFill>
            <a:srgbClr val="102A5E"/>
          </a:solidFill>
          <a:ln w="635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2120" y="2331720"/>
            <a:ext cx="9265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Patient Name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22720" y="2313432"/>
            <a:ext cx="990600" cy="292608"/>
          </a:xfrm>
          <a:prstGeom prst="rect">
            <a:avLst/>
          </a:prstGeom>
          <a:solidFill>
            <a:srgbClr val="102A5E"/>
          </a:solidFill>
          <a:ln w="635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68440" y="2331720"/>
            <a:ext cx="9265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Patient 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59040" y="2313432"/>
            <a:ext cx="990600" cy="292608"/>
          </a:xfrm>
          <a:prstGeom prst="rect">
            <a:avLst/>
          </a:prstGeom>
          <a:solidFill>
            <a:srgbClr val="102A5E"/>
          </a:solidFill>
          <a:ln w="635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04760" y="2331720"/>
            <a:ext cx="9265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Modality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2313432"/>
            <a:ext cx="990600" cy="292608"/>
          </a:xfrm>
          <a:prstGeom prst="rect">
            <a:avLst/>
          </a:prstGeom>
          <a:solidFill>
            <a:srgbClr val="102A5E"/>
          </a:solidFill>
          <a:ln w="635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41080" y="2331720"/>
            <a:ext cx="9265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Study Date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31680" y="2313432"/>
            <a:ext cx="990600" cy="292608"/>
          </a:xfrm>
          <a:prstGeom prst="rect">
            <a:avLst/>
          </a:prstGeom>
          <a:solidFill>
            <a:srgbClr val="102A5E"/>
          </a:solidFill>
          <a:ln w="635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77400" y="2331720"/>
            <a:ext cx="9265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Description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68000" y="2313432"/>
            <a:ext cx="990600" cy="292608"/>
          </a:xfrm>
          <a:prstGeom prst="rect">
            <a:avLst/>
          </a:prstGeom>
          <a:solidFill>
            <a:srgbClr val="102A5E"/>
          </a:solidFill>
          <a:ln w="635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13720" y="2331720"/>
            <a:ext cx="9265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Accession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94960" y="2670048"/>
            <a:ext cx="6400800" cy="27432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0" y="2715768"/>
            <a:ext cx="1325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7BA8D4"/>
                </a:solidFill>
                <a:latin typeface="Calibri"/>
              </a:rPr>
              <a:t>PATIENT NAME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2715768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7BA8D4"/>
                </a:solidFill>
                <a:latin typeface="Calibri"/>
              </a:rPr>
              <a:t>STUDY DATE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26680" y="2715768"/>
            <a:ext cx="685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7BA8D4"/>
                </a:solidFill>
                <a:latin typeface="Calibri"/>
              </a:rPr>
              <a:t>MODALITY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2715768"/>
            <a:ext cx="20116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7BA8D4"/>
                </a:solidFill>
                <a:latin typeface="Calibri"/>
              </a:rPr>
              <a:t>STUDY DESCRIPTION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2715768"/>
            <a:ext cx="685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7BA8D4"/>
                </a:solidFill>
                <a:latin typeface="Calibri"/>
              </a:rPr>
              <a:t>SERIES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2715768"/>
            <a:ext cx="685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7BA8D4"/>
                </a:solidFill>
                <a:latin typeface="Calibri"/>
              </a:rPr>
              <a:t>IMAGES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94960" y="2944368"/>
            <a:ext cx="6400800" cy="384048"/>
          </a:xfrm>
          <a:prstGeom prst="rect">
            <a:avLst/>
          </a:prstGeom>
          <a:solidFill>
            <a:srgbClr val="102A5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0" y="3035808"/>
            <a:ext cx="1325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00D4FF"/>
                </a:solidFill>
                <a:latin typeface="Calibri"/>
              </a:rPr>
              <a:t>John Smith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3035808"/>
            <a:ext cx="822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2024-11-14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80" y="3035808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3035808"/>
            <a:ext cx="20116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Chest CT with Contrast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3035808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47120" y="3035808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512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94960" y="3346704"/>
            <a:ext cx="6400800" cy="384048"/>
          </a:xfrm>
          <a:prstGeom prst="rect">
            <a:avLst/>
          </a:prstGeom>
          <a:solidFill>
            <a:srgbClr val="060F27"/>
          </a:solidFill>
          <a:ln w="3175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0" y="3438144"/>
            <a:ext cx="1325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Maria Johnson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0" y="3438144"/>
            <a:ext cx="822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2024-11-13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26680" y="3438144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MR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58200" y="3438144"/>
            <a:ext cx="20116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Brain MRI – T1/T2/FLAIR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0" y="3438144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47120" y="3438144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1024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94960" y="3749040"/>
            <a:ext cx="6400800" cy="384048"/>
          </a:xfrm>
          <a:prstGeom prst="rect">
            <a:avLst/>
          </a:prstGeom>
          <a:solidFill>
            <a:srgbClr val="060F27"/>
          </a:solidFill>
          <a:ln w="3175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0" y="3840480"/>
            <a:ext cx="1325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Robert Davis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0" y="3840480"/>
            <a:ext cx="822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2024-11-12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26680" y="3840480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CR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58200" y="3840480"/>
            <a:ext cx="20116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Chest X-Ray PA + Lateral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3840480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47120" y="3840480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94960" y="4151376"/>
            <a:ext cx="6400800" cy="384048"/>
          </a:xfrm>
          <a:prstGeom prst="rect">
            <a:avLst/>
          </a:prstGeom>
          <a:solidFill>
            <a:srgbClr val="060F27"/>
          </a:solidFill>
          <a:ln w="3175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0" y="4242816"/>
            <a:ext cx="1325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Emily Wilson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0" y="4242816"/>
            <a:ext cx="822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2024-11-10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26680" y="4242816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US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58200" y="4242816"/>
            <a:ext cx="20116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Abdomen Ultrasound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15600" y="4242816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47120" y="4242816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48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94960" y="4553712"/>
            <a:ext cx="6400800" cy="384048"/>
          </a:xfrm>
          <a:prstGeom prst="rect">
            <a:avLst/>
          </a:prstGeom>
          <a:solidFill>
            <a:srgbClr val="060F27"/>
          </a:solidFill>
          <a:ln w="3175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0" y="4645152"/>
            <a:ext cx="1325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Michael Brown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0" y="4645152"/>
            <a:ext cx="822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2024-11-08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26680" y="4645152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DX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58200" y="4645152"/>
            <a:ext cx="20116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Full Spine Standing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15600" y="4645152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247120" y="4645152"/>
            <a:ext cx="6858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7BA8D4"/>
                </a:solidFill>
                <a:latin typeface="Calibri"/>
              </a:rPr>
              <a:t>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394960" y="6291072"/>
            <a:ext cx="6400800" cy="292608"/>
          </a:xfrm>
          <a:prstGeom prst="rect">
            <a:avLst/>
          </a:prstGeom>
          <a:solidFill>
            <a:srgbClr val="060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532120" y="6327648"/>
            <a:ext cx="6217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7BA8D4"/>
                </a:solidFill>
                <a:latin typeface="Calibri"/>
              </a:rPr>
              <a:t>5 studies loaded  |  Port 3001  |  Supabase: Connected  |  Backend: OK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394960" y="6263640"/>
            <a:ext cx="6400800" cy="347472"/>
          </a:xfrm>
          <a:prstGeom prst="rect">
            <a:avLst/>
          </a:prstGeom>
          <a:solidFill>
            <a:srgbClr val="102A5E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532120" y="6291072"/>
            <a:ext cx="62179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E596"/>
                </a:solidFill>
                <a:latin typeface="Calibri"/>
              </a:rPr>
              <a:t>✔  Browser now prepared for real PACS workflow — No mock interface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657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MedView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BA8D4"/>
                </a:solidFill>
                <a:latin typeface="Calibri"/>
              </a:rPr>
              <a:t>SLIDE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Enterprise DICOM Viewer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11338560" cy="5074920"/>
          </a:xfrm>
          <a:prstGeom prst="rect">
            <a:avLst/>
          </a:prstGeom>
          <a:solidFill>
            <a:srgbClr val="060F2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11338560" cy="45720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17904"/>
            <a:ext cx="893064" cy="347472"/>
          </a:xfrm>
          <a:prstGeom prst="rect">
            <a:avLst/>
          </a:prstGeom>
          <a:solidFill>
            <a:srgbClr val="0D234F"/>
          </a:solidFill>
          <a:ln w="381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554480"/>
            <a:ext cx="8747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🖱 Select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2560" y="1517904"/>
            <a:ext cx="893064" cy="347472"/>
          </a:xfrm>
          <a:prstGeom prst="rect">
            <a:avLst/>
          </a:prstGeom>
          <a:solidFill>
            <a:srgbClr val="0D234F"/>
          </a:solidFill>
          <a:ln w="381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0848" y="1554480"/>
            <a:ext cx="8747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📐 Length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62200" y="1517904"/>
            <a:ext cx="893064" cy="347472"/>
          </a:xfrm>
          <a:prstGeom prst="rect">
            <a:avLst/>
          </a:prstGeom>
          <a:solidFill>
            <a:srgbClr val="00A8CC"/>
          </a:solidFill>
          <a:ln w="381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0488" y="1554480"/>
            <a:ext cx="8747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060F27"/>
                </a:solidFill>
                <a:latin typeface="Calibri"/>
              </a:rPr>
              <a:t>📏 Angle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517904"/>
            <a:ext cx="893064" cy="347472"/>
          </a:xfrm>
          <a:prstGeom prst="rect">
            <a:avLst/>
          </a:prstGeom>
          <a:solidFill>
            <a:srgbClr val="0D234F"/>
          </a:solidFill>
          <a:ln w="381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1554480"/>
            <a:ext cx="8747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🔵 Ellipse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1480" y="1517904"/>
            <a:ext cx="893064" cy="347472"/>
          </a:xfrm>
          <a:prstGeom prst="rect">
            <a:avLst/>
          </a:prstGeom>
          <a:solidFill>
            <a:srgbClr val="0D234F"/>
          </a:solidFill>
          <a:ln w="381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39768" y="1554480"/>
            <a:ext cx="8747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🖊 Annotate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51120" y="1517904"/>
            <a:ext cx="893064" cy="347472"/>
          </a:xfrm>
          <a:prstGeom prst="rect">
            <a:avLst/>
          </a:prstGeom>
          <a:solidFill>
            <a:srgbClr val="0D234F"/>
          </a:solidFill>
          <a:ln w="381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9408" y="1554480"/>
            <a:ext cx="8747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🔍 Zoom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517904"/>
            <a:ext cx="893064" cy="347472"/>
          </a:xfrm>
          <a:prstGeom prst="rect">
            <a:avLst/>
          </a:prstGeom>
          <a:solidFill>
            <a:srgbClr val="00A8CC"/>
          </a:solidFill>
          <a:ln w="381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1554480"/>
            <a:ext cx="8747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060F27"/>
                </a:solidFill>
                <a:latin typeface="Calibri"/>
              </a:rPr>
              <a:t>✋ Pan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10400" y="1517904"/>
            <a:ext cx="893064" cy="347472"/>
          </a:xfrm>
          <a:prstGeom prst="rect">
            <a:avLst/>
          </a:prstGeom>
          <a:solidFill>
            <a:srgbClr val="0D234F"/>
          </a:solidFill>
          <a:ln w="381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8688" y="1554480"/>
            <a:ext cx="8747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⬛ 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40040" y="1517904"/>
            <a:ext cx="893064" cy="347472"/>
          </a:xfrm>
          <a:prstGeom prst="rect">
            <a:avLst/>
          </a:prstGeom>
          <a:solidFill>
            <a:srgbClr val="0D234F"/>
          </a:solidFill>
          <a:ln w="381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8328" y="1554480"/>
            <a:ext cx="8747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🔄 Rotate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1517904"/>
            <a:ext cx="893064" cy="347472"/>
          </a:xfrm>
          <a:prstGeom prst="rect">
            <a:avLst/>
          </a:prstGeom>
          <a:solidFill>
            <a:srgbClr val="0D234F"/>
          </a:solidFill>
          <a:ln w="381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8" y="1554480"/>
            <a:ext cx="8747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↔ Flip 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99320" y="1517904"/>
            <a:ext cx="893064" cy="347472"/>
          </a:xfrm>
          <a:prstGeom prst="rect">
            <a:avLst/>
          </a:prstGeom>
          <a:solidFill>
            <a:srgbClr val="0D234F"/>
          </a:solidFill>
          <a:ln w="381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17608" y="1554480"/>
            <a:ext cx="8747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↕ Flip 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28960" y="1517904"/>
            <a:ext cx="893064" cy="347472"/>
          </a:xfrm>
          <a:prstGeom prst="rect">
            <a:avLst/>
          </a:prstGeom>
          <a:solidFill>
            <a:srgbClr val="0D234F"/>
          </a:solidFill>
          <a:ln w="381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47248" y="1554480"/>
            <a:ext cx="8747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🔲 Invert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1920240"/>
            <a:ext cx="1234440" cy="4617720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01168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00D4FF"/>
                </a:solidFill>
                <a:latin typeface="Calibri"/>
              </a:rPr>
              <a:t>SERIES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" y="2286000"/>
            <a:ext cx="1106424" cy="868680"/>
          </a:xfrm>
          <a:prstGeom prst="rect">
            <a:avLst/>
          </a:prstGeom>
          <a:solidFill>
            <a:srgbClr val="102A5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2331720"/>
            <a:ext cx="1051560" cy="530352"/>
          </a:xfrm>
          <a:prstGeom prst="rect">
            <a:avLst/>
          </a:prstGeom>
          <a:solidFill>
            <a:srgbClr val="060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2395728"/>
            <a:ext cx="365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00D4FF"/>
                </a:solidFill>
                <a:latin typeface="Calibri"/>
              </a:rPr>
              <a:t>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2880360"/>
            <a:ext cx="10515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CT Chest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3017520"/>
            <a:ext cx="10515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 i="0">
                <a:solidFill>
                  <a:srgbClr val="7BA8D4"/>
                </a:solidFill>
                <a:latin typeface="Calibri"/>
              </a:rPr>
              <a:t>3  512 img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" y="3255264"/>
            <a:ext cx="1106424" cy="868680"/>
          </a:xfrm>
          <a:prstGeom prst="rect">
            <a:avLst/>
          </a:prstGeom>
          <a:solidFill>
            <a:srgbClr val="060F27"/>
          </a:solidFill>
          <a:ln w="508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3300984"/>
            <a:ext cx="1051560" cy="530352"/>
          </a:xfrm>
          <a:prstGeom prst="rect">
            <a:avLst/>
          </a:prstGeom>
          <a:solidFill>
            <a:srgbClr val="060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364992"/>
            <a:ext cx="365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7BA8D4"/>
                </a:solidFill>
                <a:latin typeface="Calibri"/>
              </a:rPr>
              <a:t>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849624"/>
            <a:ext cx="10515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CT Lung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986784"/>
            <a:ext cx="10515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 i="0">
                <a:solidFill>
                  <a:srgbClr val="7BA8D4"/>
                </a:solidFill>
                <a:latin typeface="Calibri"/>
              </a:rPr>
              <a:t>2  486 img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" y="4224528"/>
            <a:ext cx="1106424" cy="868680"/>
          </a:xfrm>
          <a:prstGeom prst="rect">
            <a:avLst/>
          </a:prstGeom>
          <a:solidFill>
            <a:srgbClr val="060F27"/>
          </a:solidFill>
          <a:ln w="508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4270248"/>
            <a:ext cx="1051560" cy="530352"/>
          </a:xfrm>
          <a:prstGeom prst="rect">
            <a:avLst/>
          </a:prstGeom>
          <a:solidFill>
            <a:srgbClr val="060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334256"/>
            <a:ext cx="365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7BA8D4"/>
                </a:solidFill>
                <a:latin typeface="Calibri"/>
              </a:rPr>
              <a:t>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818888"/>
            <a:ext cx="10515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CT Bone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956048"/>
            <a:ext cx="10515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 i="0">
                <a:solidFill>
                  <a:srgbClr val="7BA8D4"/>
                </a:solidFill>
                <a:latin typeface="Calibri"/>
              </a:rPr>
              <a:t>1  512 img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" y="5193792"/>
            <a:ext cx="1106424" cy="868680"/>
          </a:xfrm>
          <a:prstGeom prst="rect">
            <a:avLst/>
          </a:prstGeom>
          <a:solidFill>
            <a:srgbClr val="060F27"/>
          </a:solidFill>
          <a:ln w="508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5239512"/>
            <a:ext cx="1051560" cy="530352"/>
          </a:xfrm>
          <a:prstGeom prst="rect">
            <a:avLst/>
          </a:prstGeom>
          <a:solidFill>
            <a:srgbClr val="060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5303520"/>
            <a:ext cx="365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7BA8D4"/>
                </a:solidFill>
                <a:latin typeface="Calibri"/>
              </a:rPr>
              <a:t>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5788152"/>
            <a:ext cx="10515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Scout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925312"/>
            <a:ext cx="10515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 i="0">
                <a:solidFill>
                  <a:srgbClr val="7BA8D4"/>
                </a:solidFill>
                <a:latin typeface="Calibri"/>
              </a:rPr>
              <a:t>1  4 img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82496" y="1920240"/>
            <a:ext cx="8458200" cy="4617720"/>
          </a:xfrm>
          <a:prstGeom prst="rect">
            <a:avLst/>
          </a:prstGeom>
          <a:solidFill>
            <a:srgbClr val="020614"/>
          </a:solidFill>
          <a:ln w="635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682496" y="4229100"/>
            <a:ext cx="8458200" cy="12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11596" y="1920240"/>
            <a:ext cx="12700" cy="46177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73936" y="201168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CT CHEST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73936" y="621792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FFFF00"/>
                </a:solidFill>
                <a:latin typeface="Calibri"/>
              </a:rPr>
              <a:t>W:400  L:40  |  Zoom:1.2x  |  Frame: 156/512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65976" y="2011680"/>
            <a:ext cx="3383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B8D4F0"/>
                </a:solidFill>
                <a:latin typeface="Calibri"/>
              </a:rPr>
              <a:t>John Smith  |  CT  |  2024-11-14</a:t>
            </a:r>
          </a:p>
        </p:txBody>
      </p:sp>
      <p:sp>
        <p:nvSpPr>
          <p:cNvPr id="62" name="Oval 61"/>
          <p:cNvSpPr/>
          <p:nvPr/>
        </p:nvSpPr>
        <p:spPr>
          <a:xfrm>
            <a:off x="4631436" y="2766060"/>
            <a:ext cx="2560320" cy="2926080"/>
          </a:xfrm>
          <a:prstGeom prst="ellipse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997196" y="3131820"/>
            <a:ext cx="1828800" cy="2194560"/>
          </a:xfrm>
          <a:prstGeom prst="ellipse">
            <a:avLst/>
          </a:prstGeom>
          <a:solidFill>
            <a:srgbClr val="25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362956" y="3543300"/>
            <a:ext cx="1097280" cy="1371600"/>
          </a:xfrm>
          <a:prstGeom prst="ellipse">
            <a:avLst/>
          </a:prstGeom>
          <a:solidFill>
            <a:srgbClr val="306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682996" y="3954780"/>
            <a:ext cx="457200" cy="548640"/>
          </a:xfrm>
          <a:prstGeom prst="ellipse">
            <a:avLst/>
          </a:prstGeom>
          <a:solidFill>
            <a:srgbClr val="50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4476" y="3771900"/>
            <a:ext cx="1005840" cy="1905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94476" y="3589020"/>
            <a:ext cx="10058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00FF7F"/>
                </a:solidFill>
                <a:latin typeface="Calibri"/>
              </a:rPr>
              <a:t>12.4 mm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77272" y="1920240"/>
            <a:ext cx="1536192" cy="4617720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68712" y="2011680"/>
            <a:ext cx="1399032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00D4FF"/>
                </a:solidFill>
                <a:latin typeface="Calibri"/>
              </a:rPr>
              <a:t>METADATA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68712" y="230428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Patient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68712" y="248716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John Smith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68712" y="271576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DOB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68712" y="289864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1980-03-15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68712" y="312724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Study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68712" y="331012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CT Chest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68712" y="353872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Date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68712" y="372160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2024-11-14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68712" y="395020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Modality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68712" y="413308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68712" y="436168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Series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68712" y="454456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68712" y="477316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Images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68712" y="495604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512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68712" y="518464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WW/WL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68712" y="536752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400/40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68712" y="559612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Slice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68712" y="577900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5.0mm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68712" y="600760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FOV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268712" y="6190488"/>
            <a:ext cx="139903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35.2cm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6537960"/>
            <a:ext cx="1133856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11480" y="6629400"/>
            <a:ext cx="1848612" cy="219456"/>
          </a:xfrm>
          <a:prstGeom prst="rect">
            <a:avLst/>
          </a:prstGeom>
          <a:solidFill>
            <a:srgbClr val="0D234F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66344" y="6656832"/>
            <a:ext cx="17846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🖱 Mouse Tools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05812" y="6629400"/>
            <a:ext cx="1848612" cy="219456"/>
          </a:xfrm>
          <a:prstGeom prst="rect">
            <a:avLst/>
          </a:prstGeom>
          <a:solidFill>
            <a:srgbClr val="0D234F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60676" y="6656832"/>
            <a:ext cx="17846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🔍 Zoom &amp; Pan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00144" y="6629400"/>
            <a:ext cx="1848612" cy="219456"/>
          </a:xfrm>
          <a:prstGeom prst="rect">
            <a:avLst/>
          </a:prstGeom>
          <a:solidFill>
            <a:srgbClr val="0D234F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255008" y="6656832"/>
            <a:ext cx="17846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⬛ Window/Level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94476" y="6629400"/>
            <a:ext cx="1848612" cy="219456"/>
          </a:xfrm>
          <a:prstGeom prst="rect">
            <a:avLst/>
          </a:prstGeom>
          <a:solidFill>
            <a:srgbClr val="0D234F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49340" y="6656832"/>
            <a:ext cx="17846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🔄 Rotate &amp; Flip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88808" y="6629400"/>
            <a:ext cx="1848612" cy="219456"/>
          </a:xfrm>
          <a:prstGeom prst="rect">
            <a:avLst/>
          </a:prstGeom>
          <a:solidFill>
            <a:srgbClr val="0D234F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43672" y="6656832"/>
            <a:ext cx="17846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📏 Measurements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83140" y="6629400"/>
            <a:ext cx="1848612" cy="219456"/>
          </a:xfrm>
          <a:prstGeom prst="rect">
            <a:avLst/>
          </a:prstGeom>
          <a:solidFill>
            <a:srgbClr val="0D234F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938004" y="6656832"/>
            <a:ext cx="17846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💬 Annotations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1480" y="6885432"/>
            <a:ext cx="1848612" cy="219456"/>
          </a:xfrm>
          <a:prstGeom prst="rect">
            <a:avLst/>
          </a:prstGeom>
          <a:solidFill>
            <a:srgbClr val="0D234F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66344" y="6912864"/>
            <a:ext cx="17846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↕ Series Nav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305812" y="6885432"/>
            <a:ext cx="1848612" cy="219456"/>
          </a:xfrm>
          <a:prstGeom prst="rect">
            <a:avLst/>
          </a:prstGeom>
          <a:solidFill>
            <a:srgbClr val="0D234F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360676" y="6912864"/>
            <a:ext cx="17846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🎞 Thumbnail Panel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00144" y="6885432"/>
            <a:ext cx="1848612" cy="219456"/>
          </a:xfrm>
          <a:prstGeom prst="rect">
            <a:avLst/>
          </a:prstGeom>
          <a:solidFill>
            <a:srgbClr val="0D234F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55008" y="6912864"/>
            <a:ext cx="17846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📐 Reference Lines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94476" y="6885432"/>
            <a:ext cx="1848612" cy="219456"/>
          </a:xfrm>
          <a:prstGeom prst="rect">
            <a:avLst/>
          </a:prstGeom>
          <a:solidFill>
            <a:srgbClr val="0D234F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49340" y="6912864"/>
            <a:ext cx="17846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🖼 Multi-Viewport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988808" y="6885432"/>
            <a:ext cx="1848612" cy="219456"/>
          </a:xfrm>
          <a:prstGeom prst="rect">
            <a:avLst/>
          </a:prstGeom>
          <a:solidFill>
            <a:srgbClr val="0D234F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43672" y="6912864"/>
            <a:ext cx="17846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🔀 Hanging Protocols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883140" y="6885432"/>
            <a:ext cx="1848612" cy="219456"/>
          </a:xfrm>
          <a:prstGeom prst="rect">
            <a:avLst/>
          </a:prstGeom>
          <a:solidFill>
            <a:srgbClr val="0D234F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938004" y="6912864"/>
            <a:ext cx="1784604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⚡ CSS Rendering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657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MedView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BA8D4"/>
                </a:solidFill>
                <a:latin typeface="Calibri"/>
              </a:rPr>
              <a:t>SLIDE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Desktop Medical Imaging Software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600200"/>
            <a:ext cx="182880" cy="1828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0876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Frameless Window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28216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Custom title bar with native minimize/maximize/close controls via IPC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075688"/>
            <a:ext cx="182880" cy="1828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84248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Native DICOM File Dialog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03704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OS-level open dialog for .dcm files with multi-selection support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551176"/>
            <a:ext cx="182880" cy="1828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459736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Folder Import via OS Dialog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679192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Recursive directory scan up to 500 DICOM files in one session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026664"/>
            <a:ext cx="182880" cy="1828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935224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Deep Link Protocol (medview://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15468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Register medview:// protocol for direct study launch from browser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502152"/>
            <a:ext cx="182880" cy="1828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410712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Single Instance 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630168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Prevents duplicate app instances; focuses existing window on relaunch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3977640"/>
            <a:ext cx="182880" cy="1828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88620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Context Bridge (IPC Security)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05656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nodeIntegration disabled; preload.cjs exposes safe APIs only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4453128"/>
            <a:ext cx="182880" cy="1828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361688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Study Selection from PACS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581144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Receives study payloads via WebSocket hub from PACS browser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4928616"/>
            <a:ext cx="182880" cy="1828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837176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Clipboard &amp; Image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056632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Copy DICOM frames to clipboard or save PNG via native dialog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5404104"/>
            <a:ext cx="182880" cy="1828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312664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Production Build (NSIS)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532120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Windows installer via electron-builder with custom appId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" y="5879592"/>
            <a:ext cx="182880" cy="1828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788152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Cross-Platform 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007608"/>
            <a:ext cx="5029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B8D4F0"/>
                </a:solidFill>
                <a:latin typeface="Calibri"/>
              </a:rPr>
              <a:t>Architecture supports macOS and Linux with minimal changes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508760"/>
            <a:ext cx="5486400" cy="4937760"/>
          </a:xfrm>
          <a:prstGeom prst="rect">
            <a:avLst/>
          </a:prstGeom>
          <a:solidFill>
            <a:srgbClr val="181818"/>
          </a:solidFill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1691640"/>
            <a:ext cx="5029200" cy="4480560"/>
          </a:xfrm>
          <a:prstGeom prst="rect">
            <a:avLst/>
          </a:prstGeom>
          <a:solidFill>
            <a:srgbClr val="060F27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46520" y="1691640"/>
            <a:ext cx="5029200" cy="34747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1737360"/>
            <a:ext cx="6400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● ● 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1746504"/>
            <a:ext cx="3200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1" i="0">
                <a:solidFill>
                  <a:srgbClr val="B8D4F0"/>
                </a:solidFill>
                <a:latin typeface="Calibri"/>
              </a:rPr>
              <a:t>MedView PRO – DICOM Workstation</a:t>
            </a:r>
          </a:p>
        </p:txBody>
      </p:sp>
      <p:sp>
        <p:nvSpPr>
          <p:cNvPr id="43" name="Oval 42"/>
          <p:cNvSpPr/>
          <p:nvPr/>
        </p:nvSpPr>
        <p:spPr>
          <a:xfrm>
            <a:off x="11109960" y="1755648"/>
            <a:ext cx="128016" cy="128016"/>
          </a:xfrm>
          <a:prstGeom prst="ellipse">
            <a:avLst/>
          </a:prstGeom>
          <a:solidFill>
            <a:srgbClr val="FF6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292840" y="1755648"/>
            <a:ext cx="128016" cy="128016"/>
          </a:xfrm>
          <a:prstGeom prst="ellipse">
            <a:avLst/>
          </a:prstGeom>
          <a:solidFill>
            <a:srgbClr val="FFB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475720" y="1755648"/>
            <a:ext cx="128016" cy="128016"/>
          </a:xfrm>
          <a:prstGeom prst="ellipse">
            <a:avLst/>
          </a:prstGeom>
          <a:solidFill>
            <a:srgbClr val="00C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73952" y="2057400"/>
            <a:ext cx="4974336" cy="329184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47104" y="2121408"/>
            <a:ext cx="4837176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File   Edit   View   Sync   Layout   Tools   Help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96912" y="2404872"/>
            <a:ext cx="3831336" cy="3584448"/>
          </a:xfrm>
          <a:prstGeom prst="rect">
            <a:avLst/>
          </a:prstGeom>
          <a:solidFill>
            <a:srgbClr val="010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89620" y="3191256"/>
            <a:ext cx="1645920" cy="2011680"/>
          </a:xfrm>
          <a:prstGeom prst="ellipse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663940" y="3511296"/>
            <a:ext cx="1097280" cy="1371600"/>
          </a:xfrm>
          <a:prstGeom prst="ellipse">
            <a:avLst/>
          </a:prstGeom>
          <a:solidFill>
            <a:srgbClr val="255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38260" y="3831336"/>
            <a:ext cx="548640" cy="731520"/>
          </a:xfrm>
          <a:prstGeom prst="ellipse">
            <a:avLst/>
          </a:prstGeom>
          <a:solidFill>
            <a:srgbClr val="35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73952" y="2404872"/>
            <a:ext cx="804672" cy="3584448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2459736"/>
            <a:ext cx="640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 i="0">
                <a:solidFill>
                  <a:srgbClr val="00D4FF"/>
                </a:solidFill>
                <a:latin typeface="Calibri"/>
              </a:rPr>
              <a:t>SER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19672" y="2679192"/>
            <a:ext cx="713232" cy="566928"/>
          </a:xfrm>
          <a:prstGeom prst="rect">
            <a:avLst/>
          </a:prstGeom>
          <a:solidFill>
            <a:srgbClr val="060F27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19672" y="3319272"/>
            <a:ext cx="713232" cy="566928"/>
          </a:xfrm>
          <a:prstGeom prst="rect">
            <a:avLst/>
          </a:prstGeom>
          <a:solidFill>
            <a:srgbClr val="060F27"/>
          </a:solidFill>
          <a:ln w="254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19672" y="3959352"/>
            <a:ext cx="713232" cy="566928"/>
          </a:xfrm>
          <a:prstGeom prst="rect">
            <a:avLst/>
          </a:prstGeom>
          <a:solidFill>
            <a:srgbClr val="060F27"/>
          </a:solidFill>
          <a:ln w="2540">
            <a:solidFill>
              <a:srgbClr val="1C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6126480"/>
            <a:ext cx="548640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9600" y="6163056"/>
            <a:ext cx="1463040" cy="201168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6217920"/>
            <a:ext cx="1325880" cy="384048"/>
          </a:xfrm>
          <a:prstGeom prst="rect">
            <a:avLst/>
          </a:prstGeom>
          <a:solidFill>
            <a:srgbClr val="0D234F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1072" y="6236208"/>
            <a:ext cx="1234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Electron 34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1072" y="6400800"/>
            <a:ext cx="1234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C107"/>
                </a:solidFill>
                <a:latin typeface="Calibri"/>
              </a:rPr>
              <a:t>v34.0.0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35240" y="6217920"/>
            <a:ext cx="1325880" cy="384048"/>
          </a:xfrm>
          <a:prstGeom prst="rect">
            <a:avLst/>
          </a:prstGeom>
          <a:solidFill>
            <a:srgbClr val="0D234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08392" y="6236208"/>
            <a:ext cx="1234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IPC Secure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08392" y="6400800"/>
            <a:ext cx="1234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D4FF"/>
                </a:solidFill>
                <a:latin typeface="Calibri"/>
              </a:rPr>
              <a:t>Bridge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60" y="6217920"/>
            <a:ext cx="1325880" cy="384048"/>
          </a:xfrm>
          <a:prstGeom prst="rect">
            <a:avLst/>
          </a:prstGeom>
          <a:solidFill>
            <a:srgbClr val="0D234F"/>
          </a:solidFill>
          <a:ln w="1016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25712" y="6236208"/>
            <a:ext cx="1234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NSIS Build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25712" y="6400800"/>
            <a:ext cx="1234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E596"/>
                </a:solidFill>
                <a:latin typeface="Calibri"/>
              </a:rPr>
              <a:t>Windows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469880" y="6217920"/>
            <a:ext cx="1325880" cy="384048"/>
          </a:xfrm>
          <a:prstGeom prst="rect">
            <a:avLst/>
          </a:prstGeom>
          <a:solidFill>
            <a:srgbClr val="0D234F"/>
          </a:solidFill>
          <a:ln w="10160">
            <a:solidFill>
              <a:srgbClr val="7B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43032" y="6236208"/>
            <a:ext cx="1234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7BA8D4"/>
                </a:solidFill>
                <a:latin typeface="Calibri"/>
              </a:rPr>
              <a:t>App 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43032" y="6400800"/>
            <a:ext cx="1234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BA8D4"/>
                </a:solidFill>
                <a:latin typeface="Calibri"/>
              </a:rPr>
              <a:t>com.medview.pro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657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MedView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BA8D4"/>
                </a:solidFill>
                <a:latin typeface="Calibri"/>
              </a:rPr>
              <a:t>SLIDE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Backend Workflow &amp;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783080" cy="1325880"/>
          </a:xfrm>
          <a:prstGeom prst="rect">
            <a:avLst/>
          </a:prstGeom>
          <a:solidFill>
            <a:srgbClr val="0D234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6988" y="1581912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" y="1591056"/>
            <a:ext cx="411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60F27"/>
                </a:solidFill>
                <a:latin typeface="Calibri"/>
              </a:rPr>
              <a:t>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Import
DICOM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1691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0">
                <a:solidFill>
                  <a:srgbClr val="B8D4F0"/>
                </a:solidFill>
                <a:latin typeface="Calibri"/>
              </a:rPr>
              <a:t>drag &amp; drop
.dcm / folder / ZIP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159000"/>
            <a:ext cx="201168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04288" y="2107692"/>
            <a:ext cx="50800" cy="1280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5728" y="1508760"/>
            <a:ext cx="1783080" cy="1325880"/>
          </a:xfrm>
          <a:prstGeom prst="rect">
            <a:avLst/>
          </a:prstGeom>
          <a:solidFill>
            <a:srgbClr val="0D234F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31236" y="1581912"/>
            <a:ext cx="502920" cy="502920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6100" y="1591056"/>
            <a:ext cx="411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60F27"/>
                </a:solidFill>
                <a:latin typeface="Calibr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1488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Parse
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1448" y="2468880"/>
            <a:ext cx="1691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0">
                <a:solidFill>
                  <a:srgbClr val="B8D4F0"/>
                </a:solidFill>
                <a:latin typeface="Calibri"/>
              </a:rPr>
              <a:t>pydicom +
dicom-parser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159000"/>
            <a:ext cx="201168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8536" y="2107692"/>
            <a:ext cx="50800" cy="1280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9976" y="1508760"/>
            <a:ext cx="1783080" cy="1325880"/>
          </a:xfrm>
          <a:prstGeom prst="rect">
            <a:avLst/>
          </a:prstGeom>
          <a:solidFill>
            <a:srgbClr val="0D234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15484" y="1581912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0348" y="1591056"/>
            <a:ext cx="411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60F27"/>
                </a:solidFill>
                <a:latin typeface="Calibri"/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21488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Generate
Studies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2468880"/>
            <a:ext cx="1691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0">
                <a:solidFill>
                  <a:srgbClr val="B8D4F0"/>
                </a:solidFill>
                <a:latin typeface="Calibri"/>
              </a:rPr>
              <a:t>Patient / Study /
Series / Instance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3056" y="2159000"/>
            <a:ext cx="201168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2784" y="2107692"/>
            <a:ext cx="50800" cy="1280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64224" y="1508760"/>
            <a:ext cx="1783080" cy="1325880"/>
          </a:xfrm>
          <a:prstGeom prst="rect">
            <a:avLst/>
          </a:prstGeom>
          <a:solidFill>
            <a:srgbClr val="0D234F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99732" y="1581912"/>
            <a:ext cx="502920" cy="502920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4596" y="1591056"/>
            <a:ext cx="411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60F27"/>
                </a:solidFill>
                <a:latin typeface="Calibri"/>
              </a:rPr>
              <a:t>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21488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Create
Series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2468880"/>
            <a:ext cx="1691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0">
                <a:solidFill>
                  <a:srgbClr val="B8D4F0"/>
                </a:solidFill>
                <a:latin typeface="Calibri"/>
              </a:rPr>
              <a:t>Series hierarchy
with thumbnails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47304" y="2159000"/>
            <a:ext cx="201168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57032" y="2107692"/>
            <a:ext cx="50800" cy="1280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48472" y="1508760"/>
            <a:ext cx="1783080" cy="1325880"/>
          </a:xfrm>
          <a:prstGeom prst="rect">
            <a:avLst/>
          </a:prstGeom>
          <a:solidFill>
            <a:srgbClr val="0D234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83980" y="1581912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38844" y="1591056"/>
            <a:ext cx="411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60F27"/>
                </a:solidFill>
                <a:latin typeface="Calibri"/>
              </a:rPr>
              <a:t>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12" y="21488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Stream
Pixels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2468880"/>
            <a:ext cx="1691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0">
                <a:solidFill>
                  <a:srgbClr val="B8D4F0"/>
                </a:solidFill>
                <a:latin typeface="Calibri"/>
              </a:rPr>
              <a:t>PNG frames via
/api/pixeldata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31552" y="2159000"/>
            <a:ext cx="201168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41280" y="2107692"/>
            <a:ext cx="50800" cy="1280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32720" y="1508760"/>
            <a:ext cx="1783080" cy="1325880"/>
          </a:xfrm>
          <a:prstGeom prst="rect">
            <a:avLst/>
          </a:prstGeom>
          <a:solidFill>
            <a:srgbClr val="0D234F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968228" y="1581912"/>
            <a:ext cx="502920" cy="50292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23092" y="1591056"/>
            <a:ext cx="411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060F27"/>
                </a:solidFill>
                <a:latin typeface="Calibri"/>
              </a:rPr>
              <a:t>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2148840"/>
            <a:ext cx="1600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Viewer
Render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468880"/>
            <a:ext cx="1691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0">
                <a:solidFill>
                  <a:srgbClr val="B8D4F0"/>
                </a:solidFill>
                <a:latin typeface="Calibri"/>
              </a:rPr>
              <a:t>CSS filter
brightness/contrast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297180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BACKEND SERVICE MODULES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337560"/>
            <a:ext cx="1901952" cy="1097280"/>
          </a:xfrm>
          <a:prstGeom prst="rect">
            <a:avLst/>
          </a:prstGeom>
          <a:solidFill>
            <a:srgbClr val="0D234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" y="3337560"/>
            <a:ext cx="19019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632" y="3374136"/>
            <a:ext cx="18105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060F27"/>
                </a:solidFill>
                <a:latin typeface="Calibri"/>
              </a:rPr>
              <a:t>DICOM Services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66674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dicom_parser_service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384962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validation_service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403250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duplicate_detection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21538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streaming_service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86584" y="3337560"/>
            <a:ext cx="1901952" cy="1097280"/>
          </a:xfrm>
          <a:prstGeom prst="rect">
            <a:avLst/>
          </a:prstGeom>
          <a:solidFill>
            <a:srgbClr val="0D234F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86584" y="3337560"/>
            <a:ext cx="1901952" cy="2743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59736" y="3374136"/>
            <a:ext cx="18105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060F27"/>
                </a:solidFill>
                <a:latin typeface="Calibri"/>
              </a:rPr>
              <a:t>Study Management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78024" y="366674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study_service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78024" y="384962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series_service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78024" y="403250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instance_service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78024" y="421538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storage_service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61688" y="3337560"/>
            <a:ext cx="1901952" cy="1097280"/>
          </a:xfrm>
          <a:prstGeom prst="rect">
            <a:avLst/>
          </a:prstGeom>
          <a:solidFill>
            <a:srgbClr val="0D234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61688" y="3337560"/>
            <a:ext cx="1901952" cy="2743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3374136"/>
            <a:ext cx="18105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060F27"/>
                </a:solidFill>
                <a:latin typeface="Calibri"/>
              </a:rPr>
              <a:t>Clinical Tools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53128" y="366674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measurement_service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53128" y="384962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annotation_service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53128" y="403250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roi_service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53128" y="421538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statistics_service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36792" y="3337560"/>
            <a:ext cx="1901952" cy="1097280"/>
          </a:xfrm>
          <a:prstGeom prst="rect">
            <a:avLst/>
          </a:prstGeom>
          <a:solidFill>
            <a:srgbClr val="0D234F"/>
          </a:solidFill>
          <a:ln w="1270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36792" y="3337560"/>
            <a:ext cx="1901952" cy="27432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9944" y="3374136"/>
            <a:ext cx="18105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Advanced Imaging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28232" y="366674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mpr_service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28232" y="384962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mip_service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28232" y="403250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minip_service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28232" y="421538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volume_rendering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11896" y="3337560"/>
            <a:ext cx="1901952" cy="1097280"/>
          </a:xfrm>
          <a:prstGeom prst="rect">
            <a:avLst/>
          </a:prstGeom>
          <a:solidFill>
            <a:srgbClr val="0D234F"/>
          </a:solidFill>
          <a:ln w="12700">
            <a:solidFill>
              <a:srgbClr val="7B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11896" y="3337560"/>
            <a:ext cx="1901952" cy="274320"/>
          </a:xfrm>
          <a:prstGeom prst="rect">
            <a:avLst/>
          </a:prstGeom>
          <a:solidFill>
            <a:srgbClr val="7B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85048" y="3374136"/>
            <a:ext cx="18105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03336" y="366674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hanging_protocol_service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03336" y="384962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layout_service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03336" y="403250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sync_service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03336" y="421538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comparison_service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287000" y="3337560"/>
            <a:ext cx="1901952" cy="1097280"/>
          </a:xfrm>
          <a:prstGeom prst="rect">
            <a:avLst/>
          </a:prstGeom>
          <a:solidFill>
            <a:srgbClr val="0D234F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287000" y="3337560"/>
            <a:ext cx="1901952" cy="2743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60152" y="3374136"/>
            <a:ext cx="18105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 i="0">
                <a:solidFill>
                  <a:srgbClr val="060F27"/>
                </a:solidFill>
                <a:latin typeface="Calibri"/>
              </a:rPr>
              <a:t>AI Platform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78440" y="366674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inference_service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78440" y="384962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segmentation_service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78440" y="403250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detection_service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78440" y="4215384"/>
            <a:ext cx="176479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B8D4F0"/>
                </a:solidFill>
                <a:latin typeface="Calibri"/>
              </a:rPr>
              <a:t>• overlay_service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1480" y="6291072"/>
            <a:ext cx="11365992" cy="320040"/>
          </a:xfrm>
          <a:prstGeom prst="rect">
            <a:avLst/>
          </a:prstGeom>
          <a:solidFill>
            <a:srgbClr val="060F27"/>
          </a:solidFill>
          <a:ln w="9525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6327648"/>
            <a:ext cx="1118311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00E596"/>
                </a:solidFill>
                <a:latin typeface="Calibri"/>
              </a:rPr>
              <a:t>32 REST API Endpoints  |  /api/studies  /api/series  /api/instances  /api/measurements  /api/annotations  /api/layouts  /api/mpr  /api/ai  /api/reports  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657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MedView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BA8D4"/>
                </a:solidFill>
                <a:latin typeface="Calibri"/>
              </a:rPr>
              <a:t>SLIDE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920240" cy="1993392"/>
          </a:xfrm>
          <a:prstGeom prst="rect">
            <a:avLst/>
          </a:prstGeom>
          <a:solidFill>
            <a:srgbClr val="0D234F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08760"/>
            <a:ext cx="1920240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72768"/>
            <a:ext cx="181051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0F27"/>
                </a:solidFill>
                <a:latin typeface="Calibri"/>
              </a:rPr>
              <a:t>⚛ 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1965960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D4FF"/>
                </a:solidFill>
                <a:latin typeface="Calibri"/>
              </a:rPr>
              <a:t>v19.2.7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30552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Component rendering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67712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267712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D4FF"/>
                </a:solidFill>
                <a:latin typeface="Calibri"/>
              </a:rPr>
              <a:t>v6.0.3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32304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Static type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69464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2569464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D4FF"/>
                </a:solidFill>
                <a:latin typeface="Calibri"/>
              </a:rPr>
              <a:t>v8.1.0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734056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Build tool &amp; dev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71216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Tailwind 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2871216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D4FF"/>
                </a:solidFill>
                <a:latin typeface="Calibri"/>
              </a:rPr>
              <a:t>v4.3.1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35808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Utility-first styling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72968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Lucide React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3172968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D4FF"/>
                </a:solidFill>
                <a:latin typeface="Calibri"/>
              </a:rPr>
              <a:t>v1.21.0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37560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Icon suite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1508760"/>
            <a:ext cx="1920240" cy="1993392"/>
          </a:xfrm>
          <a:prstGeom prst="rect">
            <a:avLst/>
          </a:prstGeom>
          <a:solidFill>
            <a:srgbClr val="0D234F"/>
          </a:solidFill>
          <a:ln w="1524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23160" y="1508760"/>
            <a:ext cx="192024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96312" y="1572768"/>
            <a:ext cx="181051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0F27"/>
                </a:solidFill>
                <a:latin typeface="Calibri"/>
              </a:rPr>
              <a:t>🐍  BACKEND (VIEWER)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1965960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1965960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E596"/>
                </a:solidFill>
                <a:latin typeface="Calibri"/>
              </a:rPr>
              <a:t>v0.110+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2130552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Async Python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2267712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Uvicorn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2267712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E596"/>
                </a:solidFill>
                <a:latin typeface="Calibri"/>
              </a:rPr>
              <a:t>v0.28+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2432304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ASGI server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2569464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pydicom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2569464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E596"/>
                </a:solidFill>
                <a:latin typeface="Calibri"/>
              </a:rPr>
              <a:t>v2.4.0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2734056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DICOM file parsing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2871216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Pillow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2871216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E596"/>
                </a:solidFill>
                <a:latin typeface="Calibri"/>
              </a:rPr>
              <a:t>v10.0.0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3035808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Image processing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3172968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NumPy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3172968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E596"/>
                </a:solidFill>
                <a:latin typeface="Calibri"/>
              </a:rPr>
              <a:t>v1.24+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3337560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Pixel normalization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1508760"/>
            <a:ext cx="1920240" cy="1993392"/>
          </a:xfrm>
          <a:prstGeom prst="rect">
            <a:avLst/>
          </a:prstGeom>
          <a:solidFill>
            <a:srgbClr val="0D234F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34840" y="1508760"/>
            <a:ext cx="1920240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7992" y="1572768"/>
            <a:ext cx="181051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0F27"/>
                </a:solidFill>
                <a:latin typeface="Calibri"/>
              </a:rPr>
              <a:t>🏥  PACS BACKEND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1965960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Express.js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1965960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FFC107"/>
                </a:solidFill>
                <a:latin typeface="Calibri"/>
              </a:rPr>
              <a:t>v4.19.2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2130552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Node.js REST server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2267712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97880" y="2267712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FFC107"/>
                </a:solidFill>
                <a:latin typeface="Calibri"/>
              </a:rPr>
              <a:t>v5.3.3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2432304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Type-safe backend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2569464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dicom-parser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2569464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FFC107"/>
                </a:solidFill>
                <a:latin typeface="Calibri"/>
              </a:rPr>
              <a:t>v1.8.21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6280" y="2734056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DICOM tag extraction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26280" y="2871216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Supabase JS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80" y="2871216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FFC107"/>
                </a:solidFill>
                <a:latin typeface="Calibri"/>
              </a:rPr>
              <a:t>v2.110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3035808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Cloud DB client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6280" y="3172968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multer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80" y="3172968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FFC107"/>
                </a:solidFill>
                <a:latin typeface="Calibri"/>
              </a:rPr>
              <a:t>v1.4.5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26280" y="3337560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File upload handling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1508760"/>
            <a:ext cx="1920240" cy="1993392"/>
          </a:xfrm>
          <a:prstGeom prst="rect">
            <a:avLst/>
          </a:prstGeom>
          <a:solidFill>
            <a:srgbClr val="0D234F"/>
          </a:solidFill>
          <a:ln w="15240">
            <a:solidFill>
              <a:srgbClr val="7B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46520" y="1508760"/>
            <a:ext cx="1920240" cy="384048"/>
          </a:xfrm>
          <a:prstGeom prst="rect">
            <a:avLst/>
          </a:prstGeom>
          <a:solidFill>
            <a:srgbClr val="7B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19672" y="1572768"/>
            <a:ext cx="181051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🗄  DATABASE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1965960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9560" y="1965960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7BA8D4"/>
                </a:solidFill>
                <a:latin typeface="Calibri"/>
              </a:rPr>
              <a:t>v16-alpine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37960" y="2130552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Production relational DB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37960" y="2267712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SQLAlchemy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9560" y="2267712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7BA8D4"/>
                </a:solidFill>
                <a:latin typeface="Calibri"/>
              </a:rPr>
              <a:t>v2.0+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2432304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ORM layer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60" y="2569464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Alembic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09560" y="2569464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7BA8D4"/>
                </a:solidFill>
                <a:latin typeface="Calibri"/>
              </a:rPr>
              <a:t>v1.13+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37960" y="2734056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DB migrations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37960" y="2871216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Redis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09560" y="2871216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7BA8D4"/>
                </a:solidFill>
                <a:latin typeface="Calibri"/>
              </a:rPr>
              <a:t>v7-alpine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7960" y="3035808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Cache &amp; message broker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7960" y="3172968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Supabase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09560" y="3172968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7BA8D4"/>
                </a:solidFill>
                <a:latin typeface="Calibri"/>
              </a:rPr>
              <a:t>Cloud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7960" y="3337560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PACS browser DB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58200" y="1508760"/>
            <a:ext cx="1920240" cy="1993392"/>
          </a:xfrm>
          <a:prstGeom prst="rect">
            <a:avLst/>
          </a:prstGeom>
          <a:solidFill>
            <a:srgbClr val="0D234F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458200" y="1508760"/>
            <a:ext cx="1920240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31352" y="1572768"/>
            <a:ext cx="181051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0F27"/>
                </a:solidFill>
                <a:latin typeface="Calibri"/>
              </a:rPr>
              <a:t>💻  DESKTOP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49640" y="1965960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Electron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21240" y="1965960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FFC107"/>
                </a:solidFill>
                <a:latin typeface="Calibri"/>
              </a:rPr>
              <a:t>v34.0.0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49640" y="2130552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Desktop shell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49640" y="2267712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electron-builder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921240" y="2267712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FFC107"/>
                </a:solidFill>
                <a:latin typeface="Calibri"/>
              </a:rPr>
              <a:t>v25.1.8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49640" y="2432304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Packaging &amp; installer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49640" y="2569464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Context Bridge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21240" y="2569464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FFC107"/>
                </a:solidFill>
                <a:latin typeface="Calibri"/>
              </a:rPr>
              <a:t>IPC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49640" y="2734056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Secure preload API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49640" y="2871216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NSIS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21240" y="2871216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FFC107"/>
                </a:solidFill>
                <a:latin typeface="Calibri"/>
              </a:rPr>
              <a:t>Windows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49640" y="3035808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Installer target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49640" y="3172968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Deep Linking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21240" y="3172968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FFC107"/>
                </a:solidFill>
                <a:latin typeface="Calibri"/>
              </a:rPr>
              <a:t>medview://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49640" y="3337560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Protocol handler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469880" y="1508760"/>
            <a:ext cx="1920240" cy="1993392"/>
          </a:xfrm>
          <a:prstGeom prst="rect">
            <a:avLst/>
          </a:prstGeom>
          <a:solidFill>
            <a:srgbClr val="0D234F"/>
          </a:solidFill>
          <a:ln w="1524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469880" y="1508760"/>
            <a:ext cx="1920240" cy="384048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43032" y="1572768"/>
            <a:ext cx="181051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🐳  INFRA &amp; OPS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61320" y="1965960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Docker Compose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932920" y="1965960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A8CC"/>
                </a:solidFill>
                <a:latin typeface="Calibri"/>
              </a:rPr>
              <a:t>Prod/Dev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61320" y="2130552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Container orchestration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61320" y="2267712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Celery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32920" y="2267712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A8CC"/>
                </a:solidFill>
                <a:latin typeface="Calibri"/>
              </a:rPr>
              <a:t>v5.3+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61320" y="2432304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Background task queue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61320" y="2569464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WebSockets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932920" y="2569464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A8CC"/>
                </a:solidFill>
                <a:latin typeface="Calibri"/>
              </a:rPr>
              <a:t>Real-time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561320" y="2734056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Sync hub / collaboration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61320" y="2871216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932920" y="2871216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A8CC"/>
                </a:solidFill>
                <a:latin typeface="Calibri"/>
              </a:rPr>
              <a:t>v0.20+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561320" y="3035808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Metrics &amp; monitoring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61320" y="3172968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Celery Beat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932920" y="3172968"/>
            <a:ext cx="411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50" b="0" i="0">
                <a:solidFill>
                  <a:srgbClr val="00A8CC"/>
                </a:solidFill>
                <a:latin typeface="Calibri"/>
              </a:rPr>
              <a:t>Scheduled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61320" y="3337560"/>
            <a:ext cx="17373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B8D4F0"/>
                </a:solidFill>
                <a:latin typeface="Calibri"/>
              </a:rPr>
              <a:t>Cleanup &amp; thumbnail jobs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11480" y="5943600"/>
            <a:ext cx="1821180" cy="594360"/>
          </a:xfrm>
          <a:prstGeom prst="rect">
            <a:avLst/>
          </a:prstGeom>
          <a:solidFill>
            <a:srgbClr val="060F2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02920" y="5980176"/>
            <a:ext cx="166573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D4FF"/>
                </a:solidFill>
                <a:latin typeface="Calibri"/>
              </a:rPr>
              <a:t>32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6272784"/>
            <a:ext cx="1711452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0">
                <a:solidFill>
                  <a:srgbClr val="B8D4F0"/>
                </a:solidFill>
                <a:latin typeface="Calibri"/>
              </a:rPr>
              <a:t>API Endpoints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305812" y="5943600"/>
            <a:ext cx="1821180" cy="594360"/>
          </a:xfrm>
          <a:prstGeom prst="rect">
            <a:avLst/>
          </a:prstGeom>
          <a:solidFill>
            <a:srgbClr val="060F27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397252" y="5980176"/>
            <a:ext cx="166573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E596"/>
                </a:solidFill>
                <a:latin typeface="Calibri"/>
              </a:rPr>
              <a:t>63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397252" y="6272784"/>
            <a:ext cx="1711452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0">
                <a:solidFill>
                  <a:srgbClr val="B8D4F0"/>
                </a:solidFill>
                <a:latin typeface="Calibri"/>
              </a:rPr>
              <a:t>Backend Service Modules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200144" y="5943600"/>
            <a:ext cx="1821180" cy="594360"/>
          </a:xfrm>
          <a:prstGeom prst="rect">
            <a:avLst/>
          </a:prstGeom>
          <a:solidFill>
            <a:srgbClr val="060F27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291584" y="5980176"/>
            <a:ext cx="166573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C107"/>
                </a:solidFill>
                <a:latin typeface="Calibri"/>
              </a:rPr>
              <a:t>23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291584" y="6272784"/>
            <a:ext cx="1711452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0">
                <a:solidFill>
                  <a:srgbClr val="B8D4F0"/>
                </a:solidFill>
                <a:latin typeface="Calibri"/>
              </a:rPr>
              <a:t>Frontend Components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094476" y="5943600"/>
            <a:ext cx="1821180" cy="594360"/>
          </a:xfrm>
          <a:prstGeom prst="rect">
            <a:avLst/>
          </a:prstGeom>
          <a:solidFill>
            <a:srgbClr val="060F27"/>
          </a:solidFill>
          <a:ln w="12700">
            <a:solidFill>
              <a:srgbClr val="7B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185916" y="5980176"/>
            <a:ext cx="166573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7BA8D4"/>
                </a:solidFill>
                <a:latin typeface="Calibri"/>
              </a:rPr>
              <a:t>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85916" y="6272784"/>
            <a:ext cx="1711452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0">
                <a:solidFill>
                  <a:srgbClr val="B8D4F0"/>
                </a:solidFill>
                <a:latin typeface="Calibri"/>
              </a:rPr>
              <a:t>Development Phases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988808" y="5943600"/>
            <a:ext cx="1821180" cy="594360"/>
          </a:xfrm>
          <a:prstGeom prst="rect">
            <a:avLst/>
          </a:prstGeom>
          <a:solidFill>
            <a:srgbClr val="060F2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080248" y="5980176"/>
            <a:ext cx="166573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D4FF"/>
                </a:solidFill>
                <a:latin typeface="Calibri"/>
              </a:rP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80248" y="6272784"/>
            <a:ext cx="1711452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0">
                <a:solidFill>
                  <a:srgbClr val="B8D4F0"/>
                </a:solidFill>
                <a:latin typeface="Calibri"/>
              </a:rPr>
              <a:t>Docker Services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883140" y="5943600"/>
            <a:ext cx="1821180" cy="594360"/>
          </a:xfrm>
          <a:prstGeom prst="rect">
            <a:avLst/>
          </a:prstGeom>
          <a:solidFill>
            <a:srgbClr val="060F27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974580" y="5980176"/>
            <a:ext cx="166573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00E596"/>
                </a:solidFill>
                <a:latin typeface="Calibri"/>
              </a:rPr>
              <a:t>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974580" y="6272784"/>
            <a:ext cx="1711452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0">
                <a:solidFill>
                  <a:srgbClr val="B8D4F0"/>
                </a:solidFill>
                <a:latin typeface="Calibri"/>
              </a:rPr>
              <a:t>WebSocket Hubs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2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0A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60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317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657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MedView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84048"/>
            <a:ext cx="1005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7BA8D4"/>
                </a:solidFill>
                <a:latin typeface="Calibri"/>
              </a:rPr>
              <a:t>SLIDE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Project Progress &amp; Milestones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E596"/>
                </a:solidFill>
                <a:latin typeface="Calibri"/>
              </a:rPr>
              <a:t>✅  PHASE COMPLETION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01952"/>
            <a:ext cx="86868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8046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060F27"/>
                </a:solidFill>
                <a:latin typeface="Calibri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947672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Project Restructuring &amp; FastAPI Backend Scaffolding</a:t>
            </a:r>
          </a:p>
        </p:txBody>
      </p:sp>
      <p:sp>
        <p:nvSpPr>
          <p:cNvPr id="14" name="Oval 13"/>
          <p:cNvSpPr/>
          <p:nvPr/>
        </p:nvSpPr>
        <p:spPr>
          <a:xfrm>
            <a:off x="6903720" y="1975104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938528"/>
            <a:ext cx="18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60F27"/>
                </a:solidFill>
                <a:latin typeface="Calibri"/>
              </a:rPr>
              <a:t>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04872"/>
            <a:ext cx="86868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68880"/>
            <a:ext cx="8046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060F27"/>
                </a:solidFill>
                <a:latin typeface="Calibri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450592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Study Loading &amp; Viewport Engine (real image streaming)</a:t>
            </a:r>
          </a:p>
        </p:txBody>
      </p:sp>
      <p:sp>
        <p:nvSpPr>
          <p:cNvPr id="19" name="Oval 18"/>
          <p:cNvSpPr/>
          <p:nvPr/>
        </p:nvSpPr>
        <p:spPr>
          <a:xfrm>
            <a:off x="6903720" y="2478024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441448"/>
            <a:ext cx="18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60F27"/>
                </a:solidFill>
                <a:latin typeface="Calibri"/>
              </a:rPr>
              <a:t>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07792"/>
            <a:ext cx="86868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71800"/>
            <a:ext cx="8046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060F27"/>
                </a:solidFill>
                <a:latin typeface="Calibri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953512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DICOM Import, Upload, Export &amp; Study Management</a:t>
            </a:r>
          </a:p>
        </p:txBody>
      </p:sp>
      <p:sp>
        <p:nvSpPr>
          <p:cNvPr id="24" name="Oval 23"/>
          <p:cNvSpPr/>
          <p:nvPr/>
        </p:nvSpPr>
        <p:spPr>
          <a:xfrm>
            <a:off x="6903720" y="2980944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2944368"/>
            <a:ext cx="18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60F27"/>
                </a:solidFill>
                <a:latin typeface="Calibri"/>
              </a:rPr>
              <a:t>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10712"/>
            <a:ext cx="86868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474720"/>
            <a:ext cx="8046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060F27"/>
                </a:solidFill>
                <a:latin typeface="Calibri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456432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Measurements, ROI Analysis &amp; Annotation System</a:t>
            </a:r>
          </a:p>
        </p:txBody>
      </p:sp>
      <p:sp>
        <p:nvSpPr>
          <p:cNvPr id="29" name="Oval 28"/>
          <p:cNvSpPr/>
          <p:nvPr/>
        </p:nvSpPr>
        <p:spPr>
          <a:xfrm>
            <a:off x="6903720" y="3483864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447288"/>
            <a:ext cx="18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60F27"/>
                </a:solidFill>
                <a:latin typeface="Calibri"/>
              </a:rPr>
              <a:t>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13632"/>
            <a:ext cx="86868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977640"/>
            <a:ext cx="8046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060F27"/>
                </a:solidFill>
                <a:latin typeface="Calibri"/>
              </a:rP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959352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Multi-Viewport, Hanging Protocols &amp; Study Comparison</a:t>
            </a:r>
          </a:p>
        </p:txBody>
      </p:sp>
      <p:sp>
        <p:nvSpPr>
          <p:cNvPr id="34" name="Oval 33"/>
          <p:cNvSpPr/>
          <p:nvPr/>
        </p:nvSpPr>
        <p:spPr>
          <a:xfrm>
            <a:off x="6903720" y="3986784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950208"/>
            <a:ext cx="18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60F27"/>
                </a:solidFill>
                <a:latin typeface="Calibri"/>
              </a:rPr>
              <a:t>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16552"/>
            <a:ext cx="86868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480560"/>
            <a:ext cx="8046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060F27"/>
                </a:solidFill>
                <a:latin typeface="Calibri"/>
              </a:rPr>
              <a:t>Phase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462272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Advanced Imaging – MPR, MIP, MinIP, CPR &amp; Volume Render</a:t>
            </a:r>
          </a:p>
        </p:txBody>
      </p:sp>
      <p:sp>
        <p:nvSpPr>
          <p:cNvPr id="39" name="Oval 38"/>
          <p:cNvSpPr/>
          <p:nvPr/>
        </p:nvSpPr>
        <p:spPr>
          <a:xfrm>
            <a:off x="6903720" y="4489704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4453128"/>
            <a:ext cx="18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60F27"/>
                </a:solidFill>
                <a:latin typeface="Calibri"/>
              </a:rPr>
              <a:t>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19472"/>
            <a:ext cx="86868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983480"/>
            <a:ext cx="8046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060F27"/>
                </a:solidFill>
                <a:latin typeface="Calibri"/>
              </a:rPr>
              <a:t>Phase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4965192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AI Platform, Segmentation &amp; Clinical Decision Support</a:t>
            </a:r>
          </a:p>
        </p:txBody>
      </p:sp>
      <p:sp>
        <p:nvSpPr>
          <p:cNvPr id="44" name="Oval 43"/>
          <p:cNvSpPr/>
          <p:nvPr/>
        </p:nvSpPr>
        <p:spPr>
          <a:xfrm>
            <a:off x="6903720" y="4992624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4956048"/>
            <a:ext cx="18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60F27"/>
                </a:solidFill>
                <a:latin typeface="Calibri"/>
              </a:rPr>
              <a:t>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422392"/>
            <a:ext cx="86868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486400"/>
            <a:ext cx="8046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 i="0">
                <a:solidFill>
                  <a:srgbClr val="060F27"/>
                </a:solidFill>
                <a:latin typeface="Calibri"/>
              </a:rPr>
              <a:t>Phase 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5468112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B8D4F0"/>
                </a:solidFill>
                <a:latin typeface="Calibri"/>
              </a:rPr>
              <a:t>Enterprise Workflow, Reporting &amp; Production Deployment</a:t>
            </a:r>
          </a:p>
        </p:txBody>
      </p:sp>
      <p:sp>
        <p:nvSpPr>
          <p:cNvPr id="49" name="Oval 48"/>
          <p:cNvSpPr/>
          <p:nvPr/>
        </p:nvSpPr>
        <p:spPr>
          <a:xfrm>
            <a:off x="6903720" y="5495544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5458968"/>
            <a:ext cx="18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60F27"/>
                </a:solidFill>
                <a:latin typeface="Calibri"/>
              </a:rPr>
              <a:t>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961888"/>
            <a:ext cx="7040880" cy="502920"/>
          </a:xfrm>
          <a:prstGeom prst="rect">
            <a:avLst/>
          </a:prstGeom>
          <a:solidFill>
            <a:srgbClr val="102A5E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6035040"/>
            <a:ext cx="6766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✅  Phase 1–8 Completed Successfully  |  System is production-ready for real DICOM studies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150876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COMPLETED DELIVERABLES</a:t>
            </a:r>
          </a:p>
        </p:txBody>
      </p:sp>
      <p:sp>
        <p:nvSpPr>
          <p:cNvPr id="54" name="Oval 53"/>
          <p:cNvSpPr/>
          <p:nvPr/>
        </p:nvSpPr>
        <p:spPr>
          <a:xfrm>
            <a:off x="8001000" y="192938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0" y="187451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Production PACS Study Browser</a:t>
            </a:r>
          </a:p>
        </p:txBody>
      </p:sp>
      <p:sp>
        <p:nvSpPr>
          <p:cNvPr id="56" name="Oval 55"/>
          <p:cNvSpPr/>
          <p:nvPr/>
        </p:nvSpPr>
        <p:spPr>
          <a:xfrm>
            <a:off x="8001000" y="220370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214883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Enterprise DICOM Viewer</a:t>
            </a:r>
          </a:p>
        </p:txBody>
      </p:sp>
      <p:sp>
        <p:nvSpPr>
          <p:cNvPr id="58" name="Oval 57"/>
          <p:cNvSpPr/>
          <p:nvPr/>
        </p:nvSpPr>
        <p:spPr>
          <a:xfrm>
            <a:off x="8001000" y="247802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0" y="242315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Electron Desktop Application</a:t>
            </a:r>
          </a:p>
        </p:txBody>
      </p:sp>
      <p:sp>
        <p:nvSpPr>
          <p:cNvPr id="60" name="Oval 59"/>
          <p:cNvSpPr/>
          <p:nvPr/>
        </p:nvSpPr>
        <p:spPr>
          <a:xfrm>
            <a:off x="8001000" y="275234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0" y="269747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Real DICOM File Loading</a:t>
            </a:r>
          </a:p>
        </p:txBody>
      </p:sp>
      <p:sp>
        <p:nvSpPr>
          <p:cNvPr id="62" name="Oval 61"/>
          <p:cNvSpPr/>
          <p:nvPr/>
        </p:nvSpPr>
        <p:spPr>
          <a:xfrm>
            <a:off x="8001000" y="302666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0" y="297179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FastAPI Backend with 32 APIs</a:t>
            </a:r>
          </a:p>
        </p:txBody>
      </p:sp>
      <p:sp>
        <p:nvSpPr>
          <p:cNvPr id="64" name="Oval 63"/>
          <p:cNvSpPr/>
          <p:nvPr/>
        </p:nvSpPr>
        <p:spPr>
          <a:xfrm>
            <a:off x="8001000" y="330098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0" y="324611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PostgreSQL + SQLAlchemy ORM</a:t>
            </a:r>
          </a:p>
        </p:txBody>
      </p:sp>
      <p:sp>
        <p:nvSpPr>
          <p:cNvPr id="66" name="Oval 65"/>
          <p:cNvSpPr/>
          <p:nvPr/>
        </p:nvSpPr>
        <p:spPr>
          <a:xfrm>
            <a:off x="8001000" y="357530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0" y="352043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Supabase Cloud Integration</a:t>
            </a:r>
          </a:p>
        </p:txBody>
      </p:sp>
      <p:sp>
        <p:nvSpPr>
          <p:cNvPr id="68" name="Oval 67"/>
          <p:cNvSpPr/>
          <p:nvPr/>
        </p:nvSpPr>
        <p:spPr>
          <a:xfrm>
            <a:off x="8001000" y="384962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0" y="379475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Celery + Redis Task Queue</a:t>
            </a:r>
          </a:p>
        </p:txBody>
      </p:sp>
      <p:sp>
        <p:nvSpPr>
          <p:cNvPr id="70" name="Oval 69"/>
          <p:cNvSpPr/>
          <p:nvPr/>
        </p:nvSpPr>
        <p:spPr>
          <a:xfrm>
            <a:off x="8001000" y="412394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406907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DICOM Import / Export Pipeline</a:t>
            </a:r>
          </a:p>
        </p:txBody>
      </p:sp>
      <p:sp>
        <p:nvSpPr>
          <p:cNvPr id="72" name="Oval 71"/>
          <p:cNvSpPr/>
          <p:nvPr/>
        </p:nvSpPr>
        <p:spPr>
          <a:xfrm>
            <a:off x="8001000" y="439826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0" y="434339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Measurement &amp; Annotation System</a:t>
            </a:r>
          </a:p>
        </p:txBody>
      </p:sp>
      <p:sp>
        <p:nvSpPr>
          <p:cNvPr id="74" name="Oval 73"/>
          <p:cNvSpPr/>
          <p:nvPr/>
        </p:nvSpPr>
        <p:spPr>
          <a:xfrm>
            <a:off x="8001000" y="467258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0" y="461771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Multi-Viewport + Hanging Protocols</a:t>
            </a:r>
          </a:p>
        </p:txBody>
      </p:sp>
      <p:sp>
        <p:nvSpPr>
          <p:cNvPr id="76" name="Oval 75"/>
          <p:cNvSpPr/>
          <p:nvPr/>
        </p:nvSpPr>
        <p:spPr>
          <a:xfrm>
            <a:off x="8001000" y="494690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600" y="489203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MPR / MIP / Volume Rendering Backend</a:t>
            </a:r>
          </a:p>
        </p:txBody>
      </p:sp>
      <p:sp>
        <p:nvSpPr>
          <p:cNvPr id="78" name="Oval 77"/>
          <p:cNvSpPr/>
          <p:nvPr/>
        </p:nvSpPr>
        <p:spPr>
          <a:xfrm>
            <a:off x="8001000" y="522122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29600" y="516635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AI Platform Architecture</a:t>
            </a:r>
          </a:p>
        </p:txBody>
      </p:sp>
      <p:sp>
        <p:nvSpPr>
          <p:cNvPr id="80" name="Oval 79"/>
          <p:cNvSpPr/>
          <p:nvPr/>
        </p:nvSpPr>
        <p:spPr>
          <a:xfrm>
            <a:off x="8001000" y="549554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29600" y="544067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Docker Containerization</a:t>
            </a:r>
          </a:p>
        </p:txBody>
      </p:sp>
      <p:sp>
        <p:nvSpPr>
          <p:cNvPr id="82" name="Oval 81"/>
          <p:cNvSpPr/>
          <p:nvPr/>
        </p:nvSpPr>
        <p:spPr>
          <a:xfrm>
            <a:off x="8001000" y="5769863"/>
            <a:ext cx="146304" cy="146304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29600" y="5714999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B8D4F0"/>
                </a:solidFill>
                <a:latin typeface="Calibri"/>
              </a:rPr>
              <a:t>Production Windows NSIS Installer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92240"/>
            <a:ext cx="12188952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6537960"/>
            <a:ext cx="1127455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1">
                <a:solidFill>
                  <a:srgbClr val="060F27"/>
                </a:solidFill>
                <a:latin typeface="Calibri"/>
              </a:rPr>
              <a:t>"Building a Production-Ready Medical Imaging Platform for Modern Healthcare"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